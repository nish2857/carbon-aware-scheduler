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DYNAMIC CARBON-AWARE CLOUD WORKLOAD SCHEDULER</a:t>
            </a:r>
          </a:p>
          <a:p>
            <a:pPr>
              <a:spcBef>
                <a:spcPts val="1500"/>
              </a:spcBef>
              <a:defRPr sz="1600">
                <a:solidFill>
                  <a:srgbClr val="06B6D4"/>
                </a:solidFill>
              </a:defRPr>
            </a:pPr>
            <a:r>
              <a:t>Predictive Machine Learning for Spatial &amp; Temporal Shift of Cloud Compute to Clean Energy Windows</a:t>
            </a:r>
          </a:p>
          <a:p>
            <a:pPr>
              <a:spcBef>
                <a:spcPts val="2500"/>
              </a:spcBef>
              <a:defRPr sz="1400" b="1">
                <a:solidFill>
                  <a:srgbClr val="10B981"/>
                </a:solidFill>
              </a:defRPr>
            </a:pPr>
            <a:r>
              <a:t>Key Metric Achieved: 62.43% Carbon Emissions Reduction | SLA Compliance: &gt;99%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MACHINE LEARNING PROJECT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The Problem: Cloud Computing's Carbon Footprint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01. Surging Data Center Demand</a:t>
            </a:r>
          </a:p>
          <a:p>
            <a:pPr>
              <a:spcBef>
                <a:spcPts val="1400"/>
              </a:spcBef>
              <a:defRPr sz="1300">
                <a:solidFill>
                  <a:srgbClr val="64748B"/>
                </a:solidFill>
              </a:defRPr>
            </a:pPr>
            <a:r>
              <a:t>Global cloud computing consumes &gt;2% of global electricity (~200+ TWh/year), driven by AI model training &amp; massive data processing.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02. Volatile Grid Carbon Intensity</a:t>
            </a:r>
          </a:p>
          <a:p>
            <a:pPr>
              <a:spcBef>
                <a:spcPts val="1400"/>
              </a:spcBef>
              <a:defRPr sz="1300">
                <a:solidFill>
                  <a:srgbClr val="64748B"/>
                </a:solidFill>
              </a:defRPr>
            </a:pPr>
            <a:r>
              <a:t>Electrical grids rely heavily on fossil fuels during peak hours, but have excess clean solar/wind during off-peak times.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645920"/>
            <a:ext cx="329184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03. Static Workload Scheduling</a:t>
            </a:r>
          </a:p>
          <a:p>
            <a:pPr>
              <a:spcBef>
                <a:spcPts val="1400"/>
              </a:spcBef>
              <a:defRPr sz="1300">
                <a:solidFill>
                  <a:srgbClr val="64748B"/>
                </a:solidFill>
              </a:defRPr>
            </a:pPr>
            <a:r>
              <a:t>Traditional schedulers allocate cloud tasks immediately (FIFO) to static regions, ignoring live energy grid cleanliness.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MACHINE LEARNING PROJECT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Proposed Solution: Core Concepts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728655" cy="1280160"/>
          </a:xfrm>
          <a:prstGeom prst="rect">
            <a:avLst/>
          </a:prstGeom>
          <a:solidFill>
            <a:srgbClr val="F8FAFC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DYNAMIC ADAPTATION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Continuously monitors real-time cloud server demand and localized electrical grid power composition.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00400"/>
            <a:ext cx="10728655" cy="1280160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CARBON-AWARE INTELLIGENCE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Uses machine learning to forecast gCO2eq/kWh emissions 24h into the future across global cloud data centers.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4754880"/>
            <a:ext cx="10728655" cy="1280160"/>
          </a:xfrm>
          <a:prstGeom prst="rect">
            <a:avLst/>
          </a:prstGeom>
          <a:solidFill>
            <a:srgbClr val="F8FAFC"/>
          </a:solidFill>
          <a:ln w="254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28600"/>
          <a:lstStyle/>
          <a:p>
            <a:pPr algn="ctr">
              <a:defRPr sz="1500" b="1">
                <a:solidFill>
                  <a:srgbClr val="1E293B"/>
                </a:solidFill>
              </a:defRPr>
            </a:pPr>
            <a:r>
              <a:t>SPATIAL &amp; TEMPORAL SCHEDULER</a:t>
            </a:r>
          </a:p>
          <a:p>
            <a:pPr>
              <a:spcBef>
                <a:spcPts val="400"/>
              </a:spcBef>
              <a:defRPr sz="1300">
                <a:solidFill>
                  <a:srgbClr val="1E293B"/>
                </a:solidFill>
              </a:defRPr>
            </a:pPr>
            <a:r>
              <a:t>Shifts flexible batch jobs (AI training, ETL, rendering) to greener regions and cleaner time windows while satisfying SLAs.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MACHINE LEARNING PROJECT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System Architecture &amp; End-to-End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1E293B"/>
                </a:solidFill>
              </a:defRPr>
            </a:pPr>
            <a:r>
              <a:t>1. Data Ingestion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Fetches real-time &amp; historical grid intensity (Electricity Maps / WattTime API) + job queues.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645920"/>
            <a:ext cx="24688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1E293B"/>
                </a:solidFill>
              </a:defRPr>
            </a:pPr>
            <a:r>
              <a:t>2. ML Predictor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RandomForest / LSTM model predicts hourly gCO2eq/kWh intensity per region 24h ahead.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24688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1E293B"/>
                </a:solidFill>
              </a:defRPr>
            </a:pPr>
            <a:r>
              <a:t>3. Optimization Engine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Evaluates candidate (Region r, Start Time t) pairs subject to job SLA max delay deadlines.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1645920"/>
            <a:ext cx="24688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500" b="1">
                <a:solidFill>
                  <a:srgbClr val="1E293B"/>
                </a:solidFill>
              </a:defRPr>
            </a:pPr>
            <a:r>
              <a:t>4. Smart Dispatcher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Dispatches workloads to the optimal green region &amp; time slot; tracks carbon metrics.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MACHINE LEARNING PROJECT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Machine Learning Grid Intensity Forecaster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F8FAFC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1E293B"/>
                </a:solidFill>
              </a:defRPr>
            </a:pPr>
            <a:r>
              <a:t>Model Specification &amp; Features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Model Family: Random Forest &amp; Gradient Boosted Regressors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Target Variable: Hourly Carbon Intensity (gCO2eq/kWh)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Feature 1: Cyclical Time (sin/cos encoding of hour of day)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Feature 2: Day of week &amp; seasonal trends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Feature 3: Autoregressive Lags (t-1h, t-24h)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Feature 4: Rolling 6-hour moving average grid emission trend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0" y="1645920"/>
            <a:ext cx="5242255" cy="4389120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Forecasting Accuracy Metrics (Test Traces)</a:t>
            </a:r>
          </a:p>
          <a:p>
            <a:pPr>
              <a:spcBef>
                <a:spcPts val="1000"/>
              </a:spcBef>
              <a:defRPr sz="1400" b="1">
                <a:solidFill>
                  <a:srgbClr val="1E293B"/>
                </a:solidFill>
              </a:defRPr>
            </a:pPr>
            <a:r>
              <a:t>• US-East: RMSE = 15.17 gCO2eq/kWh</a:t>
            </a:r>
          </a:p>
          <a:p>
            <a:pPr>
              <a:spcBef>
                <a:spcPts val="1000"/>
              </a:spcBef>
              <a:defRPr sz="1400" b="1">
                <a:solidFill>
                  <a:srgbClr val="1E293B"/>
                </a:solidFill>
              </a:defRPr>
            </a:pPr>
            <a:r>
              <a:t>• US-West: RMSE = 21.84 gCO2eq/kWh</a:t>
            </a:r>
          </a:p>
          <a:p>
            <a:pPr>
              <a:spcBef>
                <a:spcPts val="1000"/>
              </a:spcBef>
              <a:defRPr sz="1400" b="1">
                <a:solidFill>
                  <a:srgbClr val="1E293B"/>
                </a:solidFill>
              </a:defRPr>
            </a:pPr>
            <a:r>
              <a:t>• EU-Central: RMSE = 27.84 gCO2eq/kWh</a:t>
            </a:r>
          </a:p>
          <a:p>
            <a:pPr>
              <a:spcBef>
                <a:spcPts val="1000"/>
              </a:spcBef>
              <a:defRPr sz="1400" b="1">
                <a:solidFill>
                  <a:srgbClr val="1E293B"/>
                </a:solidFill>
              </a:defRPr>
            </a:pPr>
            <a:r>
              <a:t>• AP-South: RMSE = 18.1 gCO2eq/kWh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MACHINE LEARNING PROJECT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Spatial &amp; Temporal Shifting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solidFill>
            <a:srgbClr val="F8FAF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800" b="1">
                <a:solidFill>
                  <a:srgbClr val="1E293B"/>
                </a:solidFill>
              </a:defRPr>
            </a:pPr>
            <a:r>
              <a:t>Optimization Objective Function</a:t>
            </a:r>
          </a:p>
          <a:p>
            <a:pPr>
              <a:spcBef>
                <a:spcPts val="1200"/>
              </a:spcBef>
              <a:defRPr sz="1400" b="1">
                <a:solidFill>
                  <a:srgbClr val="10B981"/>
                </a:solidFill>
              </a:defRPr>
            </a:pPr>
            <a:r>
              <a:t>Minimize  E_total = ∑_{t=t^*}^{t^* + duration - 1}  PredictedCarbon(region^*, t) × Power_kW</a:t>
            </a:r>
            <a:br/>
            <a:br/>
            <a:r>
              <a:t>Subject to SLA Constraints:</a:t>
            </a:r>
            <a:br/>
            <a:r>
              <a:t>  1. t_submit  ≤  t^*  ≤  t_submit + SLA_max_delay</a:t>
            </a:r>
            <a:br/>
            <a:r>
              <a:t>  2. region^*  ∈  { US-East, US-West, EU-Central, AP-South }</a:t>
            </a:r>
            <a:br/>
            <a:r>
              <a:t>  3. SLA Violation Rate ≤ 1.0%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MACHINE LEARNING PROJECT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Empirical Results: Carbon Emissions Reduction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Key Results Summary:</a:t>
            </a:r>
          </a:p>
          <a:p>
            <a:pPr>
              <a:spcBef>
                <a:spcPts val="1000"/>
              </a:spcBef>
              <a:defRPr sz="1400" b="1">
                <a:solidFill>
                  <a:srgbClr val="10B981"/>
                </a:solidFill>
              </a:defRPr>
            </a:pPr>
            <a:r>
              <a:t>• Carbon Emissions Reduced by 62.43%</a:t>
            </a:r>
          </a:p>
          <a:p>
            <a:pPr>
              <a:spcBef>
                <a:spcPts val="1000"/>
              </a:spcBef>
              <a:defRPr sz="1400" b="1">
                <a:solidFill>
                  <a:srgbClr val="1E293B"/>
                </a:solidFill>
              </a:defRPr>
            </a:pPr>
            <a:r>
              <a:t>• Naive Emissions: 6196.39 kg CO2eq</a:t>
            </a:r>
          </a:p>
          <a:p>
            <a:pPr>
              <a:spcBef>
                <a:spcPts val="1000"/>
              </a:spcBef>
              <a:defRPr sz="1400" b="1">
                <a:solidFill>
                  <a:srgbClr val="1E293B"/>
                </a:solidFill>
              </a:defRPr>
            </a:pPr>
            <a:r>
              <a:t>• ML Scheduler Emissions: 2328.06 kg CO2eq</a:t>
            </a:r>
          </a:p>
          <a:p>
            <a:pPr>
              <a:spcBef>
                <a:spcPts val="1000"/>
              </a:spcBef>
              <a:defRPr sz="1400" b="1">
                <a:solidFill>
                  <a:srgbClr val="10B981"/>
                </a:solidFill>
              </a:defRPr>
            </a:pPr>
            <a:r>
              <a:t>• Total Carbon Saved: 3868.33 kg CO2eq</a:t>
            </a:r>
          </a:p>
          <a:p>
            <a:pPr>
              <a:spcBef>
                <a:spcPts val="1000"/>
              </a:spcBef>
              <a:defRPr sz="1400" b="1">
                <a:solidFill>
                  <a:srgbClr val="10B981"/>
                </a:solidFill>
              </a:defRPr>
            </a:pPr>
            <a:r>
              <a:t>• SLA Compliance: 100/100 jobs (&gt;99%)</a:t>
            </a:r>
          </a:p>
        </p:txBody>
      </p:sp>
      <p:pic>
        <p:nvPicPr>
          <p:cNvPr id="4" name="Picture 3" descr="chart2_emissions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463040"/>
            <a:ext cx="5669280" cy="43609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MACHINE LEARNING PROJECT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Regional Carbon Dynamics &amp; Job Distribution</a:t>
            </a:r>
          </a:p>
        </p:txBody>
      </p:sp>
      <p:pic>
        <p:nvPicPr>
          <p:cNvPr id="3" name="Picture 2" descr="chart1_carbon_int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669280" cy="2551176"/>
          </a:xfrm>
          <a:prstGeom prst="rect">
            <a:avLst/>
          </a:prstGeom>
        </p:spPr>
      </p:pic>
      <p:pic>
        <p:nvPicPr>
          <p:cNvPr id="4" name="Picture 3" descr="chart3_regional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45920"/>
            <a:ext cx="4846320" cy="31154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MACHINE LEARNING PROJECT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Interactive Streamlit Dashboard &amp; Live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293B"/>
                </a:solidFill>
              </a:defRPr>
            </a:pPr>
            <a:r>
              <a:t>Live Dashboard Capabilities: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1. Real-Time Multi-Region Grid Heatmap: Live visualization of solar/wind clean power availability.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2. Custom Workload Injection: Interactively test batch jobs with varying SLA max delay tolerances.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3. Live Scheduler Benchmarking: Instant comparison of Naive vs ML Carbon-Aware scheduler emissions.</a:t>
            </a:r>
          </a:p>
          <a:p>
            <a:pPr>
              <a:spcBef>
                <a:spcPts val="1400"/>
              </a:spcBef>
              <a:defRPr sz="1400">
                <a:solidFill>
                  <a:srgbClr val="1E293B"/>
                </a:solidFill>
              </a:defRPr>
            </a:pPr>
            <a:r>
              <a:t>4. Exportable Reports: Download simulated carbon offset receipts and grid intensity forecasts.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B981"/>
                </a:solidFill>
              </a:defRPr>
            </a:pPr>
            <a:r>
              <a:t>CONCLUSION &amp; FUTURE SCOPE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• Proved that ML-driven spatial &amp; temporal workload shifting achieves ~35-45% reduction in carbon emissions.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• Maintained &gt;99% SLA compliance without disrupting compute deadlines.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• Future Work 1: Integrate Reinforcement Learning (PPO Agent) for dynamic online job queueing.</a:t>
            </a:r>
          </a:p>
          <a:p>
            <a:pPr>
              <a:spcBef>
                <a:spcPts val="1400"/>
              </a:spcBef>
              <a:defRPr sz="1500">
                <a:solidFill>
                  <a:srgbClr val="FFFFFF"/>
                </a:solidFill>
              </a:defRPr>
            </a:pPr>
            <a:r>
              <a:t>• Future Work 2: Multi-objective optimization joining grid carbon intensity with live electricity spot market prices.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